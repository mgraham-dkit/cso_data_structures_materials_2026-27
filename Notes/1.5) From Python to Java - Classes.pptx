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1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4" r:id="rId9"/>
    <p:sldId id="265" r:id="rId10"/>
    <p:sldId id="263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9692D98-E71B-4158-8090-9E656184F798}">
          <p14:sldIdLst>
            <p14:sldId id="256"/>
            <p14:sldId id="257"/>
          </p14:sldIdLst>
        </p14:section>
        <p14:section name="Defining the structure" id="{50FFDC39-88E3-465B-B38C-7D5480E23108}">
          <p14:sldIdLst>
            <p14:sldId id="258"/>
            <p14:sldId id="260"/>
            <p14:sldId id="259"/>
          </p14:sldIdLst>
        </p14:section>
        <p14:section name="Good practice methods" id="{37B52EBE-2BA1-4DB4-AE5B-9E3923556242}">
          <p14:sldIdLst>
            <p14:sldId id="261"/>
            <p14:sldId id="262"/>
            <p14:sldId id="264"/>
            <p14:sldId id="265"/>
            <p14:sldId id="263"/>
          </p14:sldIdLst>
        </p14:section>
        <p14:section name="Class Attributes and Methods" id="{BDD6245F-4FA9-4719-B493-06221F309A95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5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320D2E-7D24-499F-9D1C-1A80082030CF}" type="datetimeFigureOut">
              <a:rPr lang="en-IE" smtClean="0"/>
              <a:t>23/09/2026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12C09B-A3D5-4A1B-8868-FF3FEF1E7DF5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0972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1148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73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4508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33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898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9813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97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855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906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055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smtClean="0"/>
              <a:t>9/23/2026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0819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Building Classes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Translating Basic </a:t>
            </a:r>
            <a:r>
              <a:rPr lang="en-IE"/>
              <a:t>OOP concepts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3698466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995D-CDED-F172-0A54-F7105C54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Classes in Java: </a:t>
            </a:r>
            <a:br>
              <a:rPr lang="en-US" dirty="0"/>
            </a:br>
            <a:r>
              <a:rPr lang="en-US" dirty="0"/>
              <a:t>Same Idea as Python, More Structure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51587-7937-B68B-B584-9198B7F1F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Both Python and Java are object-oriented languages, however:</a:t>
            </a:r>
          </a:p>
          <a:p>
            <a:pPr lvl="2"/>
            <a:r>
              <a:rPr lang="en-IE" sz="2800" dirty="0"/>
              <a:t>Python </a:t>
            </a:r>
            <a:r>
              <a:rPr lang="en-IE" sz="2800" i="1" dirty="0"/>
              <a:t>can</a:t>
            </a:r>
            <a:r>
              <a:rPr lang="en-IE" sz="2800" dirty="0"/>
              <a:t> take an OO approach</a:t>
            </a:r>
          </a:p>
          <a:p>
            <a:pPr lvl="2"/>
            <a:r>
              <a:rPr lang="en-IE" sz="2800" dirty="0"/>
              <a:t>Java </a:t>
            </a:r>
            <a:r>
              <a:rPr lang="en-IE" sz="2800" b="1" u="sng" dirty="0"/>
              <a:t>demands</a:t>
            </a:r>
            <a:r>
              <a:rPr lang="en-IE" sz="2800" dirty="0"/>
              <a:t> an OO approach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Python leaves a lot of class design </a:t>
            </a:r>
            <a:r>
              <a:rPr lang="en-IE" sz="3200" dirty="0">
                <a:solidFill>
                  <a:srgbClr val="FF0000"/>
                </a:solidFill>
              </a:rPr>
              <a:t>implicit</a:t>
            </a:r>
            <a:r>
              <a:rPr lang="en-IE" sz="3200" dirty="0"/>
              <a:t>:</a:t>
            </a:r>
          </a:p>
          <a:p>
            <a:pPr lvl="2"/>
            <a:r>
              <a:rPr lang="en-IE" sz="2800" dirty="0"/>
              <a:t>Duck typing on data (parameters, returns, attributes etc)</a:t>
            </a:r>
          </a:p>
          <a:p>
            <a:pPr lvl="2"/>
            <a:r>
              <a:rPr lang="en-IE" sz="2800" dirty="0"/>
              <a:t>Accessibility rules are more suggestion than barriers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Java is far more </a:t>
            </a:r>
            <a:r>
              <a:rPr lang="en-IE" sz="3200" dirty="0">
                <a:solidFill>
                  <a:srgbClr val="FF0000"/>
                </a:solidFill>
              </a:rPr>
              <a:t>explicit</a:t>
            </a:r>
            <a:r>
              <a:rPr lang="en-IE" sz="3200" dirty="0"/>
              <a:t> in its class design:</a:t>
            </a:r>
          </a:p>
          <a:p>
            <a:pPr lvl="2"/>
            <a:r>
              <a:rPr lang="en-IE" sz="2800" dirty="0"/>
              <a:t>Types must be specified (parameters, returns, attributes/fields etc)</a:t>
            </a:r>
          </a:p>
          <a:p>
            <a:pPr lvl="2"/>
            <a:r>
              <a:rPr lang="en-IE" sz="2800" dirty="0"/>
              <a:t>Accessibility is defined with keywords – public, private, protected</a:t>
            </a:r>
          </a:p>
          <a:p>
            <a:pPr lvl="2"/>
            <a:endParaRPr lang="en-IE" sz="2800" dirty="0"/>
          </a:p>
          <a:p>
            <a:pPr lvl="2"/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168507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ECA4-7FF8-1B13-9CEA-EE3001C0E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Declaring a Class: Attributes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1DE14-D076-5EAD-93FC-6897375E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15311" cy="4023360"/>
          </a:xfrm>
        </p:spPr>
        <p:txBody>
          <a:bodyPr>
            <a:normAutofit fontScale="62500" lnSpcReduction="20000"/>
          </a:bodyPr>
          <a:lstStyle/>
          <a:p>
            <a:pPr lvl="1"/>
            <a:r>
              <a:rPr lang="en-IE" sz="3200" dirty="0"/>
              <a:t>Java class structure is slightly different to python</a:t>
            </a:r>
          </a:p>
          <a:p>
            <a:pPr lvl="2"/>
            <a:r>
              <a:rPr lang="en-IE" sz="2800" dirty="0"/>
              <a:t>Instance attributes (variables) are listed at the top of the class</a:t>
            </a:r>
          </a:p>
          <a:p>
            <a:pPr lvl="3"/>
            <a:r>
              <a:rPr lang="en-IE" sz="2800" dirty="0"/>
              <a:t>UNDER the class signature</a:t>
            </a:r>
          </a:p>
          <a:p>
            <a:pPr lvl="3"/>
            <a:r>
              <a:rPr lang="en-IE" sz="2800" dirty="0"/>
              <a:t>OUTSIDE all methods</a:t>
            </a:r>
          </a:p>
          <a:p>
            <a:pPr lvl="3"/>
            <a:endParaRPr lang="en-IE" sz="2800" dirty="0"/>
          </a:p>
          <a:p>
            <a:pPr lvl="1"/>
            <a:r>
              <a:rPr lang="en-IE" sz="3200" dirty="0"/>
              <a:t>Attributes have an access modifier keyword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public</a:t>
            </a:r>
            <a:r>
              <a:rPr lang="en-IE" sz="2800" dirty="0"/>
              <a:t>: accessible everywhere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private</a:t>
            </a:r>
            <a:r>
              <a:rPr lang="en-IE" sz="2800" dirty="0"/>
              <a:t>: accessible only in this class (default to this!)</a:t>
            </a:r>
          </a:p>
          <a:p>
            <a:pPr lvl="2"/>
            <a:r>
              <a:rPr lang="en-IE" sz="2800" dirty="0">
                <a:solidFill>
                  <a:srgbClr val="FF0000"/>
                </a:solidFill>
              </a:rPr>
              <a:t>protected</a:t>
            </a:r>
            <a:r>
              <a:rPr lang="en-IE" sz="2800" dirty="0"/>
              <a:t>: accessible in this class &amp; subclasses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Attributes can be accessed using the </a:t>
            </a:r>
            <a:r>
              <a:rPr lang="en-IE" sz="3200" dirty="0">
                <a:latin typeface="Consolas" panose="020B0609020204030204" pitchFamily="49" charset="0"/>
              </a:rPr>
              <a:t>this</a:t>
            </a:r>
            <a:r>
              <a:rPr lang="en-IE" sz="3200" dirty="0"/>
              <a:t> keyword</a:t>
            </a:r>
          </a:p>
          <a:p>
            <a:pPr lvl="2"/>
            <a:r>
              <a:rPr lang="en-IE" sz="2800" dirty="0"/>
              <a:t>However, it’s not REQUIRED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E9627-5F22-5FF3-9ACE-11AF6B1ED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160" y="1845734"/>
            <a:ext cx="4002560" cy="35552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3487EB5-FB00-758A-8B7A-CED736722037}"/>
              </a:ext>
            </a:extLst>
          </p:cNvPr>
          <p:cNvCxnSpPr/>
          <p:nvPr/>
        </p:nvCxnSpPr>
        <p:spPr>
          <a:xfrm flipV="1">
            <a:off x="6836229" y="3429000"/>
            <a:ext cx="1240971" cy="1475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88788AD-8AA9-62FC-2D84-31D9D3329591}"/>
              </a:ext>
            </a:extLst>
          </p:cNvPr>
          <p:cNvCxnSpPr/>
          <p:nvPr/>
        </p:nvCxnSpPr>
        <p:spPr>
          <a:xfrm flipV="1">
            <a:off x="4457700" y="4631871"/>
            <a:ext cx="3532414" cy="576943"/>
          </a:xfrm>
          <a:prstGeom prst="bentConnector3">
            <a:avLst>
              <a:gd name="adj1" fmla="val 9622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E21BAE9-F5FE-3624-EB43-02E2416250C5}"/>
              </a:ext>
            </a:extLst>
          </p:cNvPr>
          <p:cNvCxnSpPr/>
          <p:nvPr/>
        </p:nvCxnSpPr>
        <p:spPr>
          <a:xfrm flipV="1">
            <a:off x="4648200" y="2362200"/>
            <a:ext cx="2764971" cy="4299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1521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5931E-7CC5-37A1-DDA1-BDE72975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5C9538-DE5B-9CB3-0046-07C79EB46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Declaring a Class: Constructors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C709B-D081-4A29-6B5C-E69B4F5D3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815311" cy="4023360"/>
          </a:xfrm>
        </p:spPr>
        <p:txBody>
          <a:bodyPr>
            <a:normAutofit fontScale="92500" lnSpcReduction="20000"/>
          </a:bodyPr>
          <a:lstStyle/>
          <a:p>
            <a:pPr lvl="1"/>
            <a:r>
              <a:rPr lang="en-IE" sz="3200" dirty="0"/>
              <a:t>Java constructors do not have a dedicated name</a:t>
            </a:r>
          </a:p>
          <a:p>
            <a:pPr lvl="2"/>
            <a:r>
              <a:rPr lang="en-IE" sz="2800" dirty="0"/>
              <a:t>The constructor always has the same name as the class (Customer here)</a:t>
            </a:r>
          </a:p>
          <a:p>
            <a:pPr lvl="3"/>
            <a:endParaRPr lang="en-IE" sz="2800" dirty="0"/>
          </a:p>
          <a:p>
            <a:pPr lvl="1"/>
            <a:r>
              <a:rPr lang="en-IE" sz="3200" dirty="0"/>
              <a:t>Java allows for </a:t>
            </a:r>
            <a:r>
              <a:rPr lang="en-IE" sz="3200" u="sng" dirty="0"/>
              <a:t>multiple</a:t>
            </a:r>
            <a:r>
              <a:rPr lang="en-IE" sz="3200" dirty="0"/>
              <a:t> constructors in the same class</a:t>
            </a:r>
          </a:p>
          <a:p>
            <a:pPr lvl="2"/>
            <a:r>
              <a:rPr lang="en-IE" sz="2800" dirty="0"/>
              <a:t>Different constructors for different use cases – fine as long as there are different parameter lists</a:t>
            </a:r>
          </a:p>
          <a:p>
            <a:pPr lvl="2"/>
            <a:r>
              <a:rPr lang="en-IE" sz="2800" dirty="0"/>
              <a:t>This offsets not including required vs optional parameters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28935-5B89-47A3-283D-4D4167D5A3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1297" y="1845734"/>
            <a:ext cx="3635462" cy="447766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F7EF583-FF7A-E92F-5CE4-11984D0E968D}"/>
              </a:ext>
            </a:extLst>
          </p:cNvPr>
          <p:cNvCxnSpPr/>
          <p:nvPr/>
        </p:nvCxnSpPr>
        <p:spPr>
          <a:xfrm flipV="1">
            <a:off x="6387152" y="3173104"/>
            <a:ext cx="1296538" cy="757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E5C031-DB7B-A6F9-DF66-816D62B661A3}"/>
              </a:ext>
            </a:extLst>
          </p:cNvPr>
          <p:cNvCxnSpPr>
            <a:cxnSpLocks/>
          </p:cNvCxnSpPr>
          <p:nvPr/>
        </p:nvCxnSpPr>
        <p:spPr>
          <a:xfrm>
            <a:off x="6387152" y="3930555"/>
            <a:ext cx="1249177" cy="2277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617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AB5E-51DC-7CAF-E5E0-411B8A531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Creating an Object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DEF94-DD0A-BEF2-C107-9A66A255BA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5"/>
            <a:ext cx="10058400" cy="2181980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The </a:t>
            </a:r>
            <a:r>
              <a:rPr lang="en-IE" sz="3200" dirty="0">
                <a:solidFill>
                  <a:srgbClr val="FF0000"/>
                </a:solidFill>
                <a:latin typeface="Consolas" panose="020B0609020204030204" pitchFamily="49" charset="0"/>
              </a:rPr>
              <a:t>new </a:t>
            </a:r>
            <a:r>
              <a:rPr lang="en-IE" sz="3200" dirty="0"/>
              <a:t>keyword (combined with the constructor) creates an object in Java</a:t>
            </a:r>
          </a:p>
          <a:p>
            <a:pPr lvl="2"/>
            <a:endParaRPr lang="en-IE" sz="1100" dirty="0"/>
          </a:p>
          <a:p>
            <a:pPr lvl="1"/>
            <a:r>
              <a:rPr lang="en-IE" sz="3200" dirty="0"/>
              <a:t>The constructor called depends on the parameters provided</a:t>
            </a:r>
          </a:p>
          <a:p>
            <a:pPr lvl="2"/>
            <a:r>
              <a:rPr lang="en-IE" sz="2800" dirty="0"/>
              <a:t>Method overloading in action!</a:t>
            </a:r>
          </a:p>
          <a:p>
            <a:pPr lvl="1"/>
            <a:endParaRPr lang="en-IE" sz="1200" dirty="0"/>
          </a:p>
          <a:p>
            <a:pPr lvl="1"/>
            <a:r>
              <a:rPr lang="en-IE" sz="3200" dirty="0"/>
              <a:t>We have no way to see the data inside the class (private variable) </a:t>
            </a:r>
          </a:p>
          <a:p>
            <a:pPr lvl="2"/>
            <a:r>
              <a:rPr lang="en-IE" sz="2800" dirty="0"/>
              <a:t>Need to use getter method to show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1711D8-02DD-DB26-8717-6CFC1FE34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942" y="3815444"/>
            <a:ext cx="5647442" cy="2612158"/>
          </a:xfrm>
          <a:prstGeom prst="rect">
            <a:avLst/>
          </a:prstGeom>
        </p:spPr>
      </p:pic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0A55AC26-08B6-DBFA-BC51-52CE0480C88E}"/>
              </a:ext>
            </a:extLst>
          </p:cNvPr>
          <p:cNvCxnSpPr>
            <a:cxnSpLocks/>
          </p:cNvCxnSpPr>
          <p:nvPr/>
        </p:nvCxnSpPr>
        <p:spPr>
          <a:xfrm rot="10800000" flipV="1">
            <a:off x="7516586" y="1975756"/>
            <a:ext cx="2650672" cy="2628904"/>
          </a:xfrm>
          <a:prstGeom prst="bentConnector3">
            <a:avLst>
              <a:gd name="adj1" fmla="val -1345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1658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4DB3D6E-776E-1C9F-671D-C1F3312C9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4723" y="3112831"/>
            <a:ext cx="5832238" cy="84908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447066-60DC-D38C-4D4C-2A99AEEE2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“Good Practice” Methods in Java:</a:t>
            </a:r>
            <a:br>
              <a:rPr lang="en-IE" dirty="0"/>
            </a:br>
            <a:r>
              <a:rPr lang="en-IE" dirty="0"/>
              <a:t>Converting an Object to 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11A79-D972-5779-78F9-EA379A2BE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1583266"/>
          </a:xfrm>
        </p:spPr>
        <p:txBody>
          <a:bodyPr>
            <a:normAutofit/>
          </a:bodyPr>
          <a:lstStyle/>
          <a:p>
            <a:pPr lvl="1"/>
            <a:r>
              <a:rPr lang="en-IE" sz="2800" dirty="0"/>
              <a:t>In python, we use </a:t>
            </a:r>
            <a:r>
              <a:rPr lang="en-IE" sz="2800" dirty="0">
                <a:latin typeface="Consolas" panose="020B0609020204030204" pitchFamily="49" charset="0"/>
              </a:rPr>
              <a:t>__str__()</a:t>
            </a:r>
            <a:r>
              <a:rPr lang="en-IE" sz="2800" dirty="0"/>
              <a:t> to convert an object to text</a:t>
            </a:r>
          </a:p>
          <a:p>
            <a:pPr lvl="2"/>
            <a:r>
              <a:rPr lang="en-IE" sz="2400" dirty="0"/>
              <a:t>Takes </a:t>
            </a:r>
            <a:r>
              <a:rPr lang="en-IE" sz="2400" i="1" dirty="0"/>
              <a:t>almost</a:t>
            </a:r>
            <a:r>
              <a:rPr lang="en-IE" sz="2400" dirty="0"/>
              <a:t> no parameters (needs </a:t>
            </a:r>
            <a:r>
              <a:rPr lang="en-IE" sz="2400" dirty="0">
                <a:latin typeface="Consolas" panose="020B0609020204030204" pitchFamily="49" charset="0"/>
              </a:rPr>
              <a:t>self</a:t>
            </a:r>
            <a:r>
              <a:rPr lang="en-IE" sz="2400" dirty="0"/>
              <a:t>)</a:t>
            </a:r>
          </a:p>
          <a:p>
            <a:pPr lvl="2"/>
            <a:r>
              <a:rPr lang="en-IE" sz="2400" dirty="0"/>
              <a:t>Creates and returns a string containing the data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7FF07D-C424-E332-422C-515B170863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421" y="4289294"/>
            <a:ext cx="5098540" cy="1209382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CA45A0D-AFAC-9AD6-43C0-56472487795C}"/>
              </a:ext>
            </a:extLst>
          </p:cNvPr>
          <p:cNvSpPr txBox="1">
            <a:spLocks/>
          </p:cNvSpPr>
          <p:nvPr/>
        </p:nvSpPr>
        <p:spPr>
          <a:xfrm>
            <a:off x="968829" y="4289293"/>
            <a:ext cx="5546271" cy="1518235"/>
          </a:xfrm>
          <a:prstGeom prst="rect">
            <a:avLst/>
          </a:prstGeom>
        </p:spPr>
        <p:txBody>
          <a:bodyPr vert="horz" lIns="0" tIns="45720" rIns="0" bIns="45720" rtlCol="0">
            <a:normAutofit fontScale="85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2800" dirty="0"/>
              <a:t>In Java, we use </a:t>
            </a:r>
            <a:r>
              <a:rPr lang="en-IE" sz="2800" dirty="0" err="1">
                <a:latin typeface="Consolas" panose="020B0609020204030204" pitchFamily="49" charset="0"/>
              </a:rPr>
              <a:t>toString</a:t>
            </a:r>
            <a:r>
              <a:rPr lang="en-IE" sz="2800" dirty="0">
                <a:latin typeface="Consolas" panose="020B0609020204030204" pitchFamily="49" charset="0"/>
              </a:rPr>
              <a:t>()</a:t>
            </a:r>
          </a:p>
          <a:p>
            <a:pPr lvl="2"/>
            <a:r>
              <a:rPr lang="en-IE" sz="2400" dirty="0"/>
              <a:t>Takes </a:t>
            </a:r>
            <a:r>
              <a:rPr lang="en-IE" sz="2400" u="sng" dirty="0"/>
              <a:t>no</a:t>
            </a:r>
            <a:r>
              <a:rPr lang="en-IE" sz="2400" dirty="0"/>
              <a:t> parameters </a:t>
            </a:r>
          </a:p>
          <a:p>
            <a:pPr lvl="2"/>
            <a:r>
              <a:rPr lang="en-IE" sz="2400" dirty="0"/>
              <a:t>Creates &amp; returns a String containing the data</a:t>
            </a:r>
          </a:p>
          <a:p>
            <a:pPr lvl="2"/>
            <a:r>
              <a:rPr lang="en-IE" sz="2400" dirty="0"/>
              <a:t>Can be marked with @Override, but not required</a:t>
            </a:r>
          </a:p>
        </p:txBody>
      </p:sp>
    </p:spTree>
    <p:extLst>
      <p:ext uri="{BB962C8B-B14F-4D97-AF65-F5344CB8AC3E}">
        <p14:creationId xmlns:p14="http://schemas.microsoft.com/office/powerpoint/2010/main" val="3714879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12D01-47DC-4B7E-437E-24BD51DB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EF4163A0-C867-3FD4-1D66-80534BE4E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144" y="4331101"/>
            <a:ext cx="5751690" cy="1994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97206B-C099-9E5F-2740-BFEA0F442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“Good Practice” Methods in Java:</a:t>
            </a:r>
            <a:br>
              <a:rPr lang="en-IE" dirty="0"/>
            </a:br>
            <a:r>
              <a:rPr lang="en-IE" dirty="0"/>
              <a:t>Checking For 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4D74C-BACB-048E-42BA-A5EDC90BB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48944" cy="1844806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2800" dirty="0"/>
              <a:t>In python, we use </a:t>
            </a:r>
            <a:r>
              <a:rPr lang="en-IE" sz="2800" dirty="0">
                <a:latin typeface="Consolas" panose="020B0609020204030204" pitchFamily="49" charset="0"/>
              </a:rPr>
              <a:t>__</a:t>
            </a:r>
            <a:r>
              <a:rPr lang="en-IE" sz="2800" dirty="0" err="1">
                <a:latin typeface="Consolas" panose="020B0609020204030204" pitchFamily="49" charset="0"/>
              </a:rPr>
              <a:t>eq</a:t>
            </a:r>
            <a:r>
              <a:rPr lang="en-IE" sz="2800" dirty="0">
                <a:latin typeface="Consolas" panose="020B0609020204030204" pitchFamily="49" charset="0"/>
              </a:rPr>
              <a:t>__()</a:t>
            </a:r>
            <a:r>
              <a:rPr lang="en-IE" sz="2800" dirty="0"/>
              <a:t> and __ne__() to compare one object to another</a:t>
            </a:r>
          </a:p>
          <a:p>
            <a:pPr lvl="2"/>
            <a:r>
              <a:rPr lang="en-IE" sz="2400" dirty="0"/>
              <a:t>Takes </a:t>
            </a:r>
            <a:r>
              <a:rPr lang="en-IE" sz="2400" i="1" dirty="0"/>
              <a:t>two </a:t>
            </a:r>
            <a:r>
              <a:rPr lang="en-IE" sz="2400" dirty="0"/>
              <a:t>parameters (needs </a:t>
            </a:r>
            <a:r>
              <a:rPr lang="en-IE" sz="2400" dirty="0">
                <a:latin typeface="Consolas" panose="020B0609020204030204" pitchFamily="49" charset="0"/>
              </a:rPr>
              <a:t>self </a:t>
            </a:r>
            <a:r>
              <a:rPr lang="en-IE" sz="2400" dirty="0"/>
              <a:t>and the object to compare against)</a:t>
            </a:r>
          </a:p>
          <a:p>
            <a:pPr lvl="2"/>
            <a:r>
              <a:rPr lang="en-IE" sz="2400" dirty="0"/>
              <a:t>Returns </a:t>
            </a:r>
            <a:r>
              <a:rPr lang="en-IE" sz="2400" dirty="0" err="1"/>
              <a:t>NotImplemented</a:t>
            </a:r>
            <a:r>
              <a:rPr lang="en-IE" sz="2400" dirty="0"/>
              <a:t> for incorrect types</a:t>
            </a:r>
          </a:p>
          <a:p>
            <a:pPr lvl="2"/>
            <a:r>
              <a:rPr lang="en-IE" sz="2400" dirty="0"/>
              <a:t>Returns True or False based on check logic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6944613-BEC7-90A5-7F5E-B7DA57137C55}"/>
              </a:ext>
            </a:extLst>
          </p:cNvPr>
          <p:cNvSpPr txBox="1">
            <a:spLocks/>
          </p:cNvSpPr>
          <p:nvPr/>
        </p:nvSpPr>
        <p:spPr>
          <a:xfrm>
            <a:off x="968829" y="4289293"/>
            <a:ext cx="4588328" cy="1844807"/>
          </a:xfrm>
          <a:prstGeom prst="rect">
            <a:avLst/>
          </a:prstGeom>
        </p:spPr>
        <p:txBody>
          <a:bodyPr vert="horz" lIns="0" tIns="45720" rIns="0" bIns="45720" rtlCol="0">
            <a:normAutofit fontScale="70000" lnSpcReduction="2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2800" dirty="0"/>
              <a:t>In Java, we use </a:t>
            </a:r>
            <a:r>
              <a:rPr lang="en-IE" sz="2800" dirty="0">
                <a:latin typeface="Consolas" panose="020B0609020204030204" pitchFamily="49" charset="0"/>
              </a:rPr>
              <a:t>equals()</a:t>
            </a:r>
          </a:p>
          <a:p>
            <a:pPr lvl="2"/>
            <a:r>
              <a:rPr lang="en-IE" sz="2400" dirty="0"/>
              <a:t>Only takes in </a:t>
            </a:r>
            <a:r>
              <a:rPr lang="en-IE" sz="2400" dirty="0">
                <a:solidFill>
                  <a:srgbClr val="FF0000"/>
                </a:solidFill>
              </a:rPr>
              <a:t>object</a:t>
            </a:r>
            <a:r>
              <a:rPr lang="en-IE" sz="2400" dirty="0"/>
              <a:t> to compare against</a:t>
            </a:r>
          </a:p>
          <a:p>
            <a:pPr lvl="2"/>
            <a:r>
              <a:rPr lang="en-IE" sz="2400" dirty="0"/>
              <a:t>Same steps: check type, then check data</a:t>
            </a:r>
          </a:p>
          <a:p>
            <a:pPr lvl="2"/>
            <a:r>
              <a:rPr lang="en-IE" sz="2400" dirty="0"/>
              <a:t>Returns true or false, even for incorrect type!</a:t>
            </a:r>
          </a:p>
          <a:p>
            <a:pPr lvl="2"/>
            <a:r>
              <a:rPr lang="en-IE" sz="2400" dirty="0"/>
              <a:t>Can be marked with @Override, but not required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A4F383-1DF3-7E51-D781-ACBA59D1E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2405" y="2150817"/>
            <a:ext cx="5386694" cy="1234640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6F2522B1-D668-77C0-B765-CA7C49C5BD6F}"/>
              </a:ext>
            </a:extLst>
          </p:cNvPr>
          <p:cNvGrpSpPr/>
          <p:nvPr/>
        </p:nvGrpSpPr>
        <p:grpSpPr>
          <a:xfrm>
            <a:off x="5099957" y="4289293"/>
            <a:ext cx="3096986" cy="440550"/>
            <a:chOff x="5099957" y="4289293"/>
            <a:chExt cx="3096986" cy="440550"/>
          </a:xfrm>
        </p:grpSpPr>
        <p:cxnSp>
          <p:nvCxnSpPr>
            <p:cNvPr id="17" name="Connector: Elbow 16">
              <a:extLst>
                <a:ext uri="{FF2B5EF4-FFF2-40B4-BE49-F238E27FC236}">
                  <a16:creationId xmlns:a16="http://schemas.microsoft.com/office/drawing/2014/main" id="{D3CD9D1F-B937-D763-6A97-1F6D91687B10}"/>
                </a:ext>
              </a:extLst>
            </p:cNvPr>
            <p:cNvCxnSpPr/>
            <p:nvPr/>
          </p:nvCxnSpPr>
          <p:spPr>
            <a:xfrm flipV="1">
              <a:off x="5099957" y="4289293"/>
              <a:ext cx="2928257" cy="440550"/>
            </a:xfrm>
            <a:prstGeom prst="bentConnector3">
              <a:avLst>
                <a:gd name="adj1" fmla="val 780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8C42BC5-7E4A-2186-5627-D35BF3AFFDBF}"/>
                </a:ext>
              </a:extLst>
            </p:cNvPr>
            <p:cNvCxnSpPr>
              <a:cxnSpLocks/>
            </p:cNvCxnSpPr>
            <p:nvPr/>
          </p:nvCxnSpPr>
          <p:spPr>
            <a:xfrm>
              <a:off x="8028214" y="4289293"/>
              <a:ext cx="168729" cy="44055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498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C01D4-012A-CC71-E226-80DFC9F9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equals() method:</a:t>
            </a:r>
            <a:br>
              <a:rPr lang="en-IE" dirty="0"/>
            </a:br>
            <a:r>
              <a:rPr lang="en-IE" dirty="0"/>
              <a:t>Checking Objects for 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0DA1B-7F16-0AF5-D64D-021B844D1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We cannot use == to compare two objects in Java</a:t>
            </a:r>
          </a:p>
          <a:p>
            <a:pPr lvl="2"/>
            <a:r>
              <a:rPr lang="en-IE" sz="2800" dirty="0"/>
              <a:t>Operators are for simple types, e.g. </a:t>
            </a:r>
            <a:r>
              <a:rPr lang="en-IE" sz="2800" dirty="0" err="1"/>
              <a:t>ints</a:t>
            </a:r>
            <a:r>
              <a:rPr lang="en-IE" sz="2800" dirty="0"/>
              <a:t>, doubles, </a:t>
            </a:r>
            <a:r>
              <a:rPr lang="en-IE" sz="2800" dirty="0" err="1"/>
              <a:t>booleans</a:t>
            </a:r>
            <a:r>
              <a:rPr lang="en-IE" sz="2800" dirty="0"/>
              <a:t> etc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Must use our equals() method directly</a:t>
            </a:r>
          </a:p>
          <a:p>
            <a:pPr lvl="2"/>
            <a:r>
              <a:rPr lang="en-IE" sz="2800" dirty="0"/>
              <a:t>No magic method set up in Java!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C19371-0BB1-D23F-02C2-1A3C73E1A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9829" y="4329631"/>
            <a:ext cx="6953301" cy="1647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33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B7DC2E-75CD-275B-B22D-18F7968BD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2DC6-816C-82DB-F8BF-8F3186849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Using the equals() method:</a:t>
            </a:r>
            <a:br>
              <a:rPr lang="en-IE" dirty="0"/>
            </a:br>
            <a:r>
              <a:rPr lang="en-IE" dirty="0"/>
              <a:t>Checking Objects for Inequality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67E709-AD99-F252-E207-7520A4BF6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We cannot use != to check two objects are not the same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Must call equals() method and negate/invert the result</a:t>
            </a:r>
          </a:p>
          <a:p>
            <a:pPr lvl="2"/>
            <a:r>
              <a:rPr lang="en-IE" sz="2800" dirty="0"/>
              <a:t>We achieve this with the ! (not) operator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5FDA21-E85C-F9A7-31B4-3EECCBC96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741" y="4158342"/>
            <a:ext cx="8089478" cy="142603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8CA836-32E6-D6AF-A5B9-91B260CBB1A1}"/>
              </a:ext>
            </a:extLst>
          </p:cNvPr>
          <p:cNvCxnSpPr/>
          <p:nvPr/>
        </p:nvCxnSpPr>
        <p:spPr>
          <a:xfrm flipH="1">
            <a:off x="2819400" y="3761014"/>
            <a:ext cx="2547257" cy="5987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22785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B4FF9-BAB4-EED9-A9E9-C4DCEBAA1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106FF-10FF-9DCA-46E4-264602085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“Good Practice” Methods in Java:</a:t>
            </a:r>
            <a:br>
              <a:rPr lang="en-IE" dirty="0"/>
            </a:br>
            <a:r>
              <a:rPr lang="en-IE" dirty="0"/>
              <a:t>Creating a Hash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DD60-4C6F-3EB3-86E7-0AE98E146D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5148944" cy="1844806"/>
          </a:xfrm>
        </p:spPr>
        <p:txBody>
          <a:bodyPr>
            <a:normAutofit lnSpcReduction="10000"/>
          </a:bodyPr>
          <a:lstStyle/>
          <a:p>
            <a:pPr lvl="1"/>
            <a:r>
              <a:rPr lang="en-IE" sz="2800" dirty="0"/>
              <a:t>In python, we use </a:t>
            </a:r>
            <a:r>
              <a:rPr lang="en-IE" sz="2800" dirty="0">
                <a:latin typeface="Consolas" panose="020B0609020204030204" pitchFamily="49" charset="0"/>
              </a:rPr>
              <a:t>__hash__()</a:t>
            </a:r>
            <a:endParaRPr lang="en-IE" sz="2800" dirty="0"/>
          </a:p>
          <a:p>
            <a:pPr lvl="2"/>
            <a:r>
              <a:rPr lang="en-IE" sz="2400" dirty="0"/>
              <a:t>Takes </a:t>
            </a:r>
            <a:r>
              <a:rPr lang="en-IE" sz="2400" i="1" dirty="0"/>
              <a:t>one </a:t>
            </a:r>
            <a:r>
              <a:rPr lang="en-IE" sz="2400" dirty="0"/>
              <a:t>parameters (needs </a:t>
            </a:r>
            <a:r>
              <a:rPr lang="en-IE" sz="2400" dirty="0">
                <a:latin typeface="Consolas" panose="020B0609020204030204" pitchFamily="49" charset="0"/>
              </a:rPr>
              <a:t>self</a:t>
            </a:r>
            <a:r>
              <a:rPr lang="en-IE" sz="2400" dirty="0"/>
              <a:t>)</a:t>
            </a:r>
          </a:p>
          <a:p>
            <a:pPr lvl="2"/>
            <a:r>
              <a:rPr lang="en-IE" sz="2400" dirty="0"/>
              <a:t>Returns an int representing the data</a:t>
            </a:r>
          </a:p>
          <a:p>
            <a:pPr lvl="2"/>
            <a:r>
              <a:rPr lang="en-IE" sz="2400" dirty="0"/>
              <a:t>Not always implemented – only used on data that won’t change!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34EA9E0-B38A-2C37-1623-B5115040E487}"/>
              </a:ext>
            </a:extLst>
          </p:cNvPr>
          <p:cNvSpPr txBox="1">
            <a:spLocks/>
          </p:cNvSpPr>
          <p:nvPr/>
        </p:nvSpPr>
        <p:spPr>
          <a:xfrm>
            <a:off x="968829" y="4289293"/>
            <a:ext cx="4702628" cy="1844807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10000"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IE" sz="2800" dirty="0"/>
              <a:t>In Java, we use </a:t>
            </a:r>
            <a:r>
              <a:rPr lang="en-IE" sz="2800" dirty="0" err="1">
                <a:latin typeface="Consolas" panose="020B0609020204030204" pitchFamily="49" charset="0"/>
              </a:rPr>
              <a:t>hashCode</a:t>
            </a:r>
            <a:r>
              <a:rPr lang="en-IE" sz="2800" dirty="0">
                <a:latin typeface="Consolas" panose="020B0609020204030204" pitchFamily="49" charset="0"/>
              </a:rPr>
              <a:t>()</a:t>
            </a:r>
          </a:p>
          <a:p>
            <a:pPr lvl="2"/>
            <a:r>
              <a:rPr lang="en-IE" sz="2400" dirty="0"/>
              <a:t>No parameters</a:t>
            </a:r>
          </a:p>
          <a:p>
            <a:pPr lvl="2"/>
            <a:r>
              <a:rPr lang="en-IE" sz="2400" dirty="0"/>
              <a:t>Returns an int representing the data</a:t>
            </a:r>
          </a:p>
          <a:p>
            <a:pPr lvl="2"/>
            <a:r>
              <a:rPr lang="en-IE" sz="2400" dirty="0">
                <a:solidFill>
                  <a:srgbClr val="FF0000"/>
                </a:solidFill>
              </a:rPr>
              <a:t>Should ALWAYS be consistent with equals()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F5261-BDB2-E569-5467-B9AB43554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7248" y="2226126"/>
            <a:ext cx="4478432" cy="7293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444716-EE91-0B63-0A40-732083DEE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704" y="4579908"/>
            <a:ext cx="5069976" cy="1165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07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2D6FA-811F-B1F4-7C18-27155D3FF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Class-Level Attributes and Operations:</a:t>
            </a:r>
            <a:br>
              <a:rPr lang="en-IE" dirty="0"/>
            </a:br>
            <a:r>
              <a:rPr lang="en-IE" dirty="0"/>
              <a:t>Static Variables and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F92AAB-0FC9-4D4E-98AB-239DCFA315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3"/>
            <a:ext cx="5259977" cy="4522410"/>
          </a:xfrm>
        </p:spPr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Python defines static variables implicitly</a:t>
            </a:r>
          </a:p>
          <a:p>
            <a:pPr lvl="2"/>
            <a:r>
              <a:rPr lang="en-IE" sz="2800" dirty="0"/>
              <a:t>Variable declared outside __</a:t>
            </a:r>
            <a:r>
              <a:rPr lang="en-IE" sz="2800" dirty="0" err="1"/>
              <a:t>init</a:t>
            </a:r>
            <a:r>
              <a:rPr lang="en-IE" sz="2800" dirty="0"/>
              <a:t>__ = static</a:t>
            </a:r>
          </a:p>
          <a:p>
            <a:pPr lvl="2"/>
            <a:r>
              <a:rPr lang="en-IE" sz="2800" dirty="0"/>
              <a:t>Variable declared using class name (</a:t>
            </a:r>
            <a:r>
              <a:rPr lang="en-IE" sz="2800" dirty="0" err="1"/>
              <a:t>ClassName.variableName</a:t>
            </a:r>
            <a:r>
              <a:rPr lang="en-IE" sz="2800" dirty="0"/>
              <a:t>) = static</a:t>
            </a:r>
          </a:p>
          <a:p>
            <a:pPr lvl="2"/>
            <a:endParaRPr lang="en-IE" sz="1300" dirty="0"/>
          </a:p>
          <a:p>
            <a:pPr lvl="1"/>
            <a:r>
              <a:rPr lang="en-IE" sz="3200" dirty="0"/>
              <a:t>Python defines static methods explicitly using a decorator</a:t>
            </a:r>
          </a:p>
          <a:p>
            <a:pPr lvl="2"/>
            <a:endParaRPr lang="en-IE" sz="1200" dirty="0"/>
          </a:p>
          <a:p>
            <a:pPr lvl="1"/>
            <a:r>
              <a:rPr lang="en-IE" sz="3200" dirty="0"/>
              <a:t>Java uses the static keyword for both</a:t>
            </a:r>
          </a:p>
          <a:p>
            <a:pPr lvl="2"/>
            <a:r>
              <a:rPr lang="en-IE" sz="2800" dirty="0"/>
              <a:t>Static variables are often in italics</a:t>
            </a:r>
          </a:p>
          <a:p>
            <a:pPr lvl="2"/>
            <a:endParaRPr lang="en-IE" sz="1200" dirty="0"/>
          </a:p>
          <a:p>
            <a:pPr lvl="1"/>
            <a:r>
              <a:rPr lang="en-IE" sz="3200" dirty="0"/>
              <a:t>Both languages use the class name to refer to static components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953D9B-D799-EDDD-C89E-95ABA91B09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8597" y="1845734"/>
            <a:ext cx="4001522" cy="445522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1FF18CBA-1780-DE79-D5DF-02BC0B6F9D38}"/>
              </a:ext>
            </a:extLst>
          </p:cNvPr>
          <p:cNvCxnSpPr>
            <a:cxnSpLocks/>
          </p:cNvCxnSpPr>
          <p:nvPr/>
        </p:nvCxnSpPr>
        <p:spPr>
          <a:xfrm flipV="1">
            <a:off x="6275614" y="2572603"/>
            <a:ext cx="1974458" cy="2059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623D7C9-706C-107F-03E9-BDBF8D801978}"/>
              </a:ext>
            </a:extLst>
          </p:cNvPr>
          <p:cNvCxnSpPr>
            <a:cxnSpLocks/>
          </p:cNvCxnSpPr>
          <p:nvPr/>
        </p:nvCxnSpPr>
        <p:spPr>
          <a:xfrm>
            <a:off x="6270171" y="4620986"/>
            <a:ext cx="1979901" cy="854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C735D04-77E2-46AE-DA28-BFE0F9FB65B2}"/>
              </a:ext>
            </a:extLst>
          </p:cNvPr>
          <p:cNvCxnSpPr/>
          <p:nvPr/>
        </p:nvCxnSpPr>
        <p:spPr>
          <a:xfrm>
            <a:off x="5029200" y="5774871"/>
            <a:ext cx="2715986" cy="97972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362669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839</TotalTime>
  <Words>696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Calibri Light</vt:lpstr>
      <vt:lpstr>Consolas</vt:lpstr>
      <vt:lpstr>Default Theme</vt:lpstr>
      <vt:lpstr>Building Classes in Java</vt:lpstr>
      <vt:lpstr>Classes in Java:  Same Idea as Python, More Structure</vt:lpstr>
      <vt:lpstr>Declaring a Class: Attributes</vt:lpstr>
      <vt:lpstr>Declaring a Class: Constructors</vt:lpstr>
      <vt:lpstr>Creating an Object in Java</vt:lpstr>
      <vt:lpstr>“Good Practice” Methods in Java: Converting an Object to Text</vt:lpstr>
      <vt:lpstr>“Good Practice” Methods in Java: Checking For Equality</vt:lpstr>
      <vt:lpstr>Using the equals() method: Checking Objects for Equality</vt:lpstr>
      <vt:lpstr>Using the equals() method: Checking Objects for Inequality</vt:lpstr>
      <vt:lpstr>“Good Practice” Methods in Java: Creating a Hash</vt:lpstr>
      <vt:lpstr>Class-Level Attributes and Operations: Static Variables and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 Data Structures</dc:title>
  <dc:creator>michelle</dc:creator>
  <cp:lastModifiedBy>Michelle Graham</cp:lastModifiedBy>
  <cp:revision>18</cp:revision>
  <dcterms:created xsi:type="dcterms:W3CDTF">2021-01-13T15:54:47Z</dcterms:created>
  <dcterms:modified xsi:type="dcterms:W3CDTF">2026-09-23T01:00:59Z</dcterms:modified>
</cp:coreProperties>
</file>