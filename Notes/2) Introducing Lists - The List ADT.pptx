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6" r:id="rId2"/>
    <p:sldId id="257" r:id="rId3"/>
    <p:sldId id="260" r:id="rId4"/>
    <p:sldId id="280" r:id="rId5"/>
    <p:sldId id="259" r:id="rId6"/>
    <p:sldId id="262" r:id="rId7"/>
    <p:sldId id="263" r:id="rId8"/>
    <p:sldId id="292" r:id="rId9"/>
    <p:sldId id="290" r:id="rId10"/>
    <p:sldId id="29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F4BEB40-3368-491C-9E52-D5F73A3A0B84}">
          <p14:sldIdLst>
            <p14:sldId id="256"/>
          </p14:sldIdLst>
        </p14:section>
        <p14:section name="List ADT" id="{FBE0B869-38A9-48D6-B25A-D909AE313586}">
          <p14:sldIdLst>
            <p14:sldId id="257"/>
            <p14:sldId id="260"/>
            <p14:sldId id="280"/>
          </p14:sldIdLst>
        </p14:section>
        <p14:section name="Implementations" id="{6B18343E-FE39-4C7D-926F-914417B4B8CE}">
          <p14:sldIdLst>
            <p14:sldId id="259"/>
            <p14:sldId id="262"/>
            <p14:sldId id="263"/>
            <p14:sldId id="292"/>
            <p14:sldId id="290"/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3" d="100"/>
          <a:sy n="83" d="100"/>
        </p:scale>
        <p:origin x="40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05488E-6A93-4009-BB87-D33800FDB24B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BDE663-1F17-47D9-AFC9-8481F3D1672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269872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IE" dirty="0"/>
              <a:t>*</a:t>
            </a:r>
            <a:r>
              <a:rPr lang="en-IE" baseline="0" dirty="0"/>
              <a:t> This is </a:t>
            </a:r>
            <a:r>
              <a:rPr lang="en-IE" sz="2800" dirty="0"/>
              <a:t>implementation-dependant, one version of List (link-based) is extremely good at this,</a:t>
            </a:r>
            <a:r>
              <a:rPr lang="en-IE" sz="2800" baseline="0" dirty="0"/>
              <a:t> while another (array-based) is </a:t>
            </a:r>
            <a:r>
              <a:rPr lang="en-IE" sz="2800" u="sng" baseline="0" dirty="0"/>
              <a:t>extremely</a:t>
            </a:r>
            <a:r>
              <a:rPr lang="en-IE" sz="2800" baseline="0" dirty="0"/>
              <a:t> bad at it.</a:t>
            </a:r>
            <a:endParaRPr lang="en-IE" sz="2800" dirty="0"/>
          </a:p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BDE663-1F17-47D9-AFC9-8481F3D1672A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0521855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92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4259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916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8106013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4972998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7797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664365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31097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4962389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6498360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07814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C2A0211E-26E1-4A56-8B7B-661E9D6D814C}" type="datetimeFigureOut">
              <a:rPr lang="en-IE" smtClean="0"/>
              <a:t>14/09/2025</a:t>
            </a:fld>
            <a:endParaRPr lang="en-I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C205A52-BE9C-4DC2-ABFD-4DAE24412B1A}" type="slidenum">
              <a:rPr lang="en-IE" smtClean="0"/>
              <a:t>‹#›</a:t>
            </a:fld>
            <a:endParaRPr lang="en-IE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524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E" dirty="0"/>
              <a:t>Lists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E" dirty="0"/>
              <a:t>Sequential Data Storage</a:t>
            </a:r>
          </a:p>
        </p:txBody>
      </p:sp>
    </p:spTree>
    <p:extLst>
      <p:ext uri="{BB962C8B-B14F-4D97-AF65-F5344CB8AC3E}">
        <p14:creationId xmlns:p14="http://schemas.microsoft.com/office/powerpoint/2010/main" val="1836215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makes a List?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lvl="1"/>
            <a:r>
              <a:rPr lang="en-IE" sz="3200" dirty="0"/>
              <a:t>Sequential storage of data</a:t>
            </a:r>
          </a:p>
          <a:p>
            <a:pPr lvl="2"/>
            <a:r>
              <a:rPr lang="en-IE" sz="2800" dirty="0"/>
              <a:t>A</a:t>
            </a:r>
            <a:r>
              <a:rPr lang="en-IE" sz="2800" baseline="-25000" dirty="0"/>
              <a:t>1</a:t>
            </a:r>
            <a:r>
              <a:rPr lang="en-IE" sz="2800" dirty="0"/>
              <a:t>, A</a:t>
            </a:r>
            <a:r>
              <a:rPr lang="en-IE" sz="2800" baseline="-25000" dirty="0"/>
              <a:t>2</a:t>
            </a:r>
            <a:r>
              <a:rPr lang="en-IE" sz="2800" dirty="0"/>
              <a:t>, A</a:t>
            </a:r>
            <a:r>
              <a:rPr lang="en-IE" sz="2800" baseline="-25000" dirty="0"/>
              <a:t>3 </a:t>
            </a:r>
            <a:r>
              <a:rPr lang="en-IE" sz="2800" dirty="0"/>
              <a:t>,… , A</a:t>
            </a:r>
            <a:r>
              <a:rPr lang="en-IE" sz="2800" baseline="-25000" dirty="0"/>
              <a:t>n</a:t>
            </a:r>
          </a:p>
          <a:p>
            <a:pPr lvl="2"/>
            <a:r>
              <a:rPr lang="en-IE" sz="2800" dirty="0"/>
              <a:t>Every entry has one entry before it and one entry after it</a:t>
            </a:r>
          </a:p>
          <a:p>
            <a:pPr lvl="3"/>
            <a:r>
              <a:rPr lang="en-IE" sz="2600" dirty="0"/>
              <a:t>Two obvious exclusions to this…</a:t>
            </a:r>
            <a:endParaRPr lang="en-IE" sz="2800" dirty="0"/>
          </a:p>
          <a:p>
            <a:pPr lvl="1"/>
            <a:r>
              <a:rPr lang="en-IE" sz="3200" dirty="0"/>
              <a:t>Can store any type of information</a:t>
            </a:r>
          </a:p>
          <a:p>
            <a:pPr lvl="2"/>
            <a:r>
              <a:rPr lang="en-IE" sz="2800" dirty="0"/>
              <a:t>Small caveat: All data in a list must be the </a:t>
            </a:r>
            <a:r>
              <a:rPr lang="en-IE" sz="2800" i="1" dirty="0"/>
              <a:t>same overall type</a:t>
            </a:r>
            <a:endParaRPr lang="en-IE" sz="3200" dirty="0"/>
          </a:p>
          <a:p>
            <a:pPr lvl="1"/>
            <a:r>
              <a:rPr lang="en-IE" sz="3200" dirty="0"/>
              <a:t>Can store </a:t>
            </a:r>
            <a:r>
              <a:rPr lang="en-IE" sz="3200" b="1" dirty="0">
                <a:solidFill>
                  <a:srgbClr val="FF0000"/>
                </a:solidFill>
              </a:rPr>
              <a:t>duplicates</a:t>
            </a:r>
          </a:p>
          <a:p>
            <a:pPr lvl="1"/>
            <a:r>
              <a:rPr lang="en-IE" sz="3200" dirty="0"/>
              <a:t>Can store an </a:t>
            </a:r>
            <a:r>
              <a:rPr lang="en-IE" sz="3200" b="1" dirty="0">
                <a:solidFill>
                  <a:srgbClr val="FF0000"/>
                </a:solidFill>
              </a:rPr>
              <a:t>unlimited</a:t>
            </a:r>
            <a:r>
              <a:rPr lang="en-IE" sz="3200" dirty="0"/>
              <a:t> amount of data</a:t>
            </a:r>
          </a:p>
          <a:p>
            <a:pPr lvl="1"/>
            <a:r>
              <a:rPr lang="en-IE" sz="3200" dirty="0"/>
              <a:t>No guarantee of specifically </a:t>
            </a:r>
            <a:r>
              <a:rPr lang="en-IE" sz="3200" i="1" dirty="0">
                <a:solidFill>
                  <a:srgbClr val="FF0000"/>
                </a:solidFill>
              </a:rPr>
              <a:t>ordered</a:t>
            </a:r>
            <a:r>
              <a:rPr lang="en-IE" sz="3200" dirty="0"/>
              <a:t> data</a:t>
            </a:r>
          </a:p>
          <a:p>
            <a:pPr lvl="2"/>
            <a:r>
              <a:rPr lang="en-IE" sz="2800" dirty="0"/>
              <a:t>Order is based solely on </a:t>
            </a:r>
            <a:r>
              <a:rPr lang="en-IE" sz="2800" dirty="0">
                <a:solidFill>
                  <a:srgbClr val="FF0000"/>
                </a:solidFill>
              </a:rPr>
              <a:t>order of entry </a:t>
            </a:r>
            <a:r>
              <a:rPr lang="en-IE" sz="2800" dirty="0"/>
              <a:t>into the list</a:t>
            </a:r>
          </a:p>
          <a:p>
            <a:pPr lvl="1"/>
            <a:r>
              <a:rPr lang="en-IE" sz="3200" dirty="0"/>
              <a:t>Support for </a:t>
            </a:r>
            <a:r>
              <a:rPr lang="en-IE" sz="3200" b="1" dirty="0">
                <a:solidFill>
                  <a:srgbClr val="FF0000"/>
                </a:solidFill>
              </a:rPr>
              <a:t>random access </a:t>
            </a:r>
            <a:r>
              <a:rPr lang="en-IE" sz="3200" dirty="0"/>
              <a:t>(i.e. access at any given position)</a:t>
            </a:r>
          </a:p>
        </p:txBody>
      </p:sp>
    </p:spTree>
    <p:extLst>
      <p:ext uri="{BB962C8B-B14F-4D97-AF65-F5344CB8AC3E}">
        <p14:creationId xmlns:p14="http://schemas.microsoft.com/office/powerpoint/2010/main" val="27757739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Fundamental Operations for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Add an element</a:t>
            </a:r>
          </a:p>
          <a:p>
            <a:pPr lvl="1"/>
            <a:r>
              <a:rPr lang="en-IE" sz="3200" dirty="0"/>
              <a:t>Remove an element</a:t>
            </a:r>
          </a:p>
          <a:p>
            <a:pPr lvl="1"/>
            <a:r>
              <a:rPr lang="en-IE" sz="3200" dirty="0"/>
              <a:t>Search for/retrieve an element</a:t>
            </a:r>
          </a:p>
          <a:p>
            <a:pPr lvl="1"/>
            <a:r>
              <a:rPr lang="en-IE" sz="3200" dirty="0"/>
              <a:t>Traverse all elements</a:t>
            </a:r>
          </a:p>
          <a:p>
            <a:pPr lvl="1"/>
            <a:r>
              <a:rPr lang="en-IE" sz="3200" dirty="0"/>
              <a:t>Get the count/size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Any others??</a:t>
            </a:r>
          </a:p>
        </p:txBody>
      </p:sp>
    </p:spTree>
    <p:extLst>
      <p:ext uri="{BB962C8B-B14F-4D97-AF65-F5344CB8AC3E}">
        <p14:creationId xmlns:p14="http://schemas.microsoft.com/office/powerpoint/2010/main" val="17309038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Where to Use a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When </a:t>
            </a:r>
            <a:r>
              <a:rPr lang="en-IE" sz="3200" dirty="0">
                <a:solidFill>
                  <a:srgbClr val="FF0000"/>
                </a:solidFill>
              </a:rPr>
              <a:t>direct</a:t>
            </a:r>
            <a:r>
              <a:rPr lang="en-IE" sz="3200" dirty="0"/>
              <a:t> access to any element is necessary</a:t>
            </a:r>
          </a:p>
          <a:p>
            <a:pPr lvl="1"/>
            <a:r>
              <a:rPr lang="en-IE" sz="3200" dirty="0"/>
              <a:t>When you want to work through the data </a:t>
            </a:r>
            <a:r>
              <a:rPr lang="en-IE" sz="3200" dirty="0">
                <a:solidFill>
                  <a:srgbClr val="FF0000"/>
                </a:solidFill>
              </a:rPr>
              <a:t>sequentially</a:t>
            </a:r>
          </a:p>
          <a:p>
            <a:pPr lvl="1"/>
            <a:r>
              <a:rPr lang="en-IE" sz="3200" dirty="0"/>
              <a:t>When you need data to </a:t>
            </a:r>
            <a:r>
              <a:rPr lang="en-IE" sz="3200" dirty="0">
                <a:solidFill>
                  <a:srgbClr val="FF0000"/>
                </a:solidFill>
              </a:rPr>
              <a:t>remain in the order </a:t>
            </a:r>
            <a:r>
              <a:rPr lang="en-IE" sz="3200" dirty="0"/>
              <a:t>in which it was entered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Not optimised for:</a:t>
            </a:r>
          </a:p>
          <a:p>
            <a:pPr lvl="2"/>
            <a:r>
              <a:rPr lang="en-IE" sz="2800" u="sng" dirty="0"/>
              <a:t>Searching</a:t>
            </a:r>
          </a:p>
          <a:p>
            <a:pPr lvl="2"/>
            <a:r>
              <a:rPr lang="en-IE" sz="2800" dirty="0"/>
              <a:t>Adding in the middle of the list*</a:t>
            </a:r>
          </a:p>
        </p:txBody>
      </p:sp>
    </p:spTree>
    <p:extLst>
      <p:ext uri="{BB962C8B-B14F-4D97-AF65-F5344CB8AC3E}">
        <p14:creationId xmlns:p14="http://schemas.microsoft.com/office/powerpoint/2010/main" val="385466689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Implementing the </a:t>
            </a:r>
            <a:br>
              <a:rPr lang="en-IE" dirty="0"/>
            </a:br>
            <a:r>
              <a:rPr lang="en-IE" dirty="0"/>
              <a:t>List ADT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Dynamic Arrays &amp; Linked Lists</a:t>
            </a:r>
          </a:p>
        </p:txBody>
      </p:sp>
    </p:spTree>
    <p:extLst>
      <p:ext uri="{BB962C8B-B14F-4D97-AF65-F5344CB8AC3E}">
        <p14:creationId xmlns:p14="http://schemas.microsoft.com/office/powerpoint/2010/main" val="12321246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Approaches to List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IE" sz="3200" dirty="0"/>
              <a:t>Two main approaches to coding an implementation of a List ADT</a:t>
            </a:r>
          </a:p>
          <a:p>
            <a:pPr lvl="2"/>
            <a:r>
              <a:rPr lang="en-IE" sz="2800" dirty="0"/>
              <a:t>Array-based</a:t>
            </a:r>
          </a:p>
          <a:p>
            <a:pPr lvl="2"/>
            <a:r>
              <a:rPr lang="en-IE" sz="2800" dirty="0"/>
              <a:t>Pointer/Link-based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API versions:</a:t>
            </a:r>
          </a:p>
          <a:p>
            <a:pPr lvl="2"/>
            <a:r>
              <a:rPr lang="en-IE" sz="2800" dirty="0"/>
              <a:t>Array-based: basic arrays, </a:t>
            </a:r>
            <a:r>
              <a:rPr lang="en-IE" sz="2800" dirty="0" err="1"/>
              <a:t>ArrayList</a:t>
            </a:r>
            <a:endParaRPr lang="en-IE" sz="2800" dirty="0"/>
          </a:p>
          <a:p>
            <a:pPr lvl="2"/>
            <a:r>
              <a:rPr lang="en-IE" sz="2800" dirty="0"/>
              <a:t>Pointer/Link-based: </a:t>
            </a:r>
            <a:r>
              <a:rPr lang="en-IE" sz="2800" dirty="0" err="1"/>
              <a:t>LinkedList</a:t>
            </a:r>
            <a:endParaRPr lang="en-IE" sz="2800" dirty="0"/>
          </a:p>
        </p:txBody>
      </p:sp>
    </p:spTree>
    <p:extLst>
      <p:ext uri="{BB962C8B-B14F-4D97-AF65-F5344CB8AC3E}">
        <p14:creationId xmlns:p14="http://schemas.microsoft.com/office/powerpoint/2010/main" val="39366103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Array-Based Implementation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196720"/>
          </a:xfrm>
        </p:spPr>
        <p:txBody>
          <a:bodyPr>
            <a:normAutofit fontScale="92500" lnSpcReduction="10000"/>
          </a:bodyPr>
          <a:lstStyle/>
          <a:p>
            <a:pPr lvl="1"/>
            <a:r>
              <a:rPr lang="en-IE" sz="3200" dirty="0"/>
              <a:t>Two approaches within array-based implementation</a:t>
            </a:r>
          </a:p>
          <a:p>
            <a:pPr lvl="2"/>
            <a:r>
              <a:rPr lang="en-IE" sz="2800" dirty="0"/>
              <a:t>Basic arrays</a:t>
            </a:r>
          </a:p>
          <a:p>
            <a:pPr lvl="2"/>
            <a:r>
              <a:rPr lang="en-IE" sz="2800" dirty="0"/>
              <a:t>Dynamic arrays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Basic arrays are a form of list:</a:t>
            </a:r>
          </a:p>
          <a:p>
            <a:pPr lvl="2"/>
            <a:r>
              <a:rPr lang="en-IE" sz="2800" dirty="0"/>
              <a:t>Can access and search information at any point</a:t>
            </a:r>
          </a:p>
          <a:p>
            <a:pPr lvl="2"/>
            <a:r>
              <a:rPr lang="en-IE" sz="2800" dirty="0"/>
              <a:t>Can store any type of information, including duplicates</a:t>
            </a:r>
          </a:p>
          <a:p>
            <a:pPr lvl="1"/>
            <a:r>
              <a:rPr lang="en-IE" sz="3200" dirty="0"/>
              <a:t>Basic arrays are a </a:t>
            </a:r>
            <a:r>
              <a:rPr lang="en-IE" sz="3200" i="1" u="sng" dirty="0"/>
              <a:t>limited</a:t>
            </a:r>
            <a:r>
              <a:rPr lang="en-IE" sz="3200" dirty="0"/>
              <a:t> form of list</a:t>
            </a:r>
          </a:p>
          <a:p>
            <a:pPr lvl="2"/>
            <a:r>
              <a:rPr lang="en-IE" sz="2800" b="1" dirty="0">
                <a:solidFill>
                  <a:srgbClr val="FF0000"/>
                </a:solidFill>
              </a:rPr>
              <a:t>Cannot</a:t>
            </a:r>
            <a:r>
              <a:rPr lang="en-IE" sz="2800" dirty="0"/>
              <a:t> store an unlimited amount of information</a:t>
            </a:r>
          </a:p>
          <a:p>
            <a:pPr lvl="1"/>
            <a:r>
              <a:rPr lang="en-IE" sz="3200" dirty="0"/>
              <a:t>Solution: </a:t>
            </a:r>
            <a:r>
              <a:rPr lang="en-IE" sz="3200" b="1" dirty="0"/>
              <a:t>Dynamic arrays </a:t>
            </a:r>
          </a:p>
        </p:txBody>
      </p:sp>
    </p:spTree>
    <p:extLst>
      <p:ext uri="{BB962C8B-B14F-4D97-AF65-F5344CB8AC3E}">
        <p14:creationId xmlns:p14="http://schemas.microsoft.com/office/powerpoint/2010/main" val="36593932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Dynamic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Dynamic array: An array that can change size as required</a:t>
            </a:r>
          </a:p>
          <a:p>
            <a:pPr lvl="1"/>
            <a:r>
              <a:rPr lang="en-IE" sz="3200" dirty="0"/>
              <a:t>Not a native component, need to be coded</a:t>
            </a:r>
          </a:p>
          <a:p>
            <a:pPr lvl="2"/>
            <a:r>
              <a:rPr lang="en-IE" sz="2800" dirty="0"/>
              <a:t>Java’s API version: The </a:t>
            </a:r>
            <a:r>
              <a:rPr lang="en-IE" sz="2800" dirty="0" err="1">
                <a:solidFill>
                  <a:srgbClr val="FF0000"/>
                </a:solidFill>
              </a:rPr>
              <a:t>ArrayList</a:t>
            </a:r>
            <a:r>
              <a:rPr lang="en-IE" sz="2800" dirty="0"/>
              <a:t> class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When the array runs out of space:</a:t>
            </a:r>
          </a:p>
          <a:p>
            <a:pPr lvl="2"/>
            <a:r>
              <a:rPr lang="en-IE" sz="2800" dirty="0"/>
              <a:t>Make a bigger array</a:t>
            </a:r>
          </a:p>
          <a:p>
            <a:pPr lvl="2"/>
            <a:r>
              <a:rPr lang="en-IE" sz="2800" dirty="0"/>
              <a:t>Copy everything from the original array over to the new array</a:t>
            </a:r>
          </a:p>
          <a:p>
            <a:pPr lvl="2"/>
            <a:r>
              <a:rPr lang="en-IE" sz="2800" dirty="0"/>
              <a:t>Store the new array in the original array’s place/variable name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Benefit of a dynamic array: Efficient direct access to information</a:t>
            </a:r>
          </a:p>
          <a:p>
            <a:pPr lvl="2"/>
            <a:r>
              <a:rPr lang="en-IE" sz="2800" dirty="0"/>
              <a:t>An array is a single continuous section of memory, can directly access any specific section within it with ease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8948614" y="3216553"/>
            <a:ext cx="1703754" cy="1266092"/>
            <a:chOff x="8948615" y="3224368"/>
            <a:chExt cx="1917661" cy="1266092"/>
          </a:xfrm>
        </p:grpSpPr>
        <p:sp>
          <p:nvSpPr>
            <p:cNvPr id="4" name="Right Brace 3"/>
            <p:cNvSpPr/>
            <p:nvPr/>
          </p:nvSpPr>
          <p:spPr>
            <a:xfrm>
              <a:off x="8948615" y="3224368"/>
              <a:ext cx="461108" cy="1266092"/>
            </a:xfrm>
            <a:prstGeom prst="rightBrace">
              <a:avLst/>
            </a:prstGeom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9409723" y="3534248"/>
              <a:ext cx="1456553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E" dirty="0"/>
                <a:t>Just like in Algorithms!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382670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The Down Side of Dynamic Arrays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97280" y="1845734"/>
            <a:ext cx="10058400" cy="4453466"/>
          </a:xfrm>
        </p:spPr>
        <p:txBody>
          <a:bodyPr>
            <a:normAutofit fontScale="70000" lnSpcReduction="20000"/>
          </a:bodyPr>
          <a:lstStyle/>
          <a:p>
            <a:pPr lvl="1"/>
            <a:r>
              <a:rPr lang="en-IE" sz="3200" dirty="0"/>
              <a:t>Dynamic arrays require a lot of duplication</a:t>
            </a:r>
          </a:p>
          <a:p>
            <a:pPr lvl="2"/>
            <a:r>
              <a:rPr lang="en-IE" sz="2800" dirty="0"/>
              <a:t>Every time you need more space, you copy ALL your data</a:t>
            </a:r>
          </a:p>
          <a:p>
            <a:pPr lvl="3"/>
            <a:r>
              <a:rPr lang="en-IE" sz="2800" dirty="0">
                <a:solidFill>
                  <a:srgbClr val="FF0000"/>
                </a:solidFill>
              </a:rPr>
              <a:t>Growing an array</a:t>
            </a:r>
            <a:r>
              <a:rPr lang="en-IE" sz="2800" dirty="0"/>
              <a:t>!</a:t>
            </a:r>
          </a:p>
          <a:p>
            <a:pPr lvl="2"/>
            <a:r>
              <a:rPr lang="en-IE" sz="2800" dirty="0"/>
              <a:t>Every time you need to add in the middle, you copy all the data from that point to the end</a:t>
            </a:r>
          </a:p>
          <a:p>
            <a:pPr lvl="3"/>
            <a:r>
              <a:rPr lang="en-IE" sz="2800" dirty="0">
                <a:solidFill>
                  <a:srgbClr val="FF0000"/>
                </a:solidFill>
              </a:rPr>
              <a:t>Shift insertion</a:t>
            </a:r>
            <a:r>
              <a:rPr lang="en-IE" sz="2800" dirty="0"/>
              <a:t>!</a:t>
            </a:r>
          </a:p>
          <a:p>
            <a:pPr lvl="2"/>
            <a:r>
              <a:rPr lang="en-IE" sz="2800" dirty="0"/>
              <a:t>Every time you remove from the middle, you move all the data from that point to the end back a slot</a:t>
            </a:r>
          </a:p>
          <a:p>
            <a:pPr lvl="3"/>
            <a:r>
              <a:rPr lang="en-IE" sz="2800" dirty="0">
                <a:solidFill>
                  <a:srgbClr val="FF0000"/>
                </a:solidFill>
              </a:rPr>
              <a:t>Shift deletion</a:t>
            </a:r>
            <a:r>
              <a:rPr lang="en-IE" sz="2800" dirty="0"/>
              <a:t>!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All the data copying leads to a whole lot of </a:t>
            </a:r>
            <a:r>
              <a:rPr lang="en-IE" sz="3200" dirty="0">
                <a:solidFill>
                  <a:srgbClr val="FF0000"/>
                </a:solidFill>
              </a:rPr>
              <a:t>wasted memory</a:t>
            </a:r>
          </a:p>
          <a:p>
            <a:pPr lvl="2"/>
            <a:r>
              <a:rPr lang="en-IE" sz="2800" dirty="0"/>
              <a:t>Imagine hundreds of thousands of objects copied multiple times</a:t>
            </a:r>
          </a:p>
          <a:p>
            <a:pPr lvl="2"/>
            <a:r>
              <a:rPr lang="en-IE" sz="2800" dirty="0"/>
              <a:t>Even with the garbage collector removing orphaned objects, the system slows down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The </a:t>
            </a:r>
            <a:r>
              <a:rPr lang="en-IE" sz="3200" dirty="0">
                <a:solidFill>
                  <a:srgbClr val="FF0000"/>
                </a:solidFill>
              </a:rPr>
              <a:t>upper bound</a:t>
            </a:r>
            <a:r>
              <a:rPr lang="en-IE" sz="3200" dirty="0"/>
              <a:t> on the array is always going to be a problem</a:t>
            </a:r>
          </a:p>
          <a:p>
            <a:pPr lvl="2"/>
            <a:r>
              <a:rPr lang="en-IE" sz="2800" dirty="0"/>
              <a:t>Solution: Don’t use something with an upper bound</a:t>
            </a:r>
          </a:p>
        </p:txBody>
      </p:sp>
    </p:spTree>
    <p:extLst>
      <p:ext uri="{BB962C8B-B14F-4D97-AF65-F5344CB8AC3E}">
        <p14:creationId xmlns:p14="http://schemas.microsoft.com/office/powerpoint/2010/main" val="9471680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Link-based Lists (AKA Linked Lists)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lvl="1"/>
            <a:r>
              <a:rPr lang="en-IE" sz="3200" dirty="0"/>
              <a:t>Arrays are a continuous section of memory</a:t>
            </a:r>
          </a:p>
          <a:p>
            <a:pPr lvl="2"/>
            <a:r>
              <a:rPr lang="en-IE" sz="2800" dirty="0"/>
              <a:t>This can’t be expanded on demand, need to build a whole new continuous section to “grow” it</a:t>
            </a:r>
          </a:p>
          <a:p>
            <a:pPr lvl="2"/>
            <a:endParaRPr lang="en-IE" sz="2800" dirty="0"/>
          </a:p>
          <a:p>
            <a:pPr lvl="1"/>
            <a:r>
              <a:rPr lang="en-IE" sz="3200" dirty="0"/>
              <a:t>Instead of building a continuous section to store our elements, what if each element we store told us </a:t>
            </a:r>
            <a:r>
              <a:rPr lang="en-IE" sz="3200" dirty="0">
                <a:solidFill>
                  <a:srgbClr val="FF0000"/>
                </a:solidFill>
              </a:rPr>
              <a:t>where to look in memory</a:t>
            </a:r>
            <a:r>
              <a:rPr lang="en-IE" sz="3200" dirty="0"/>
              <a:t> for the next one?</a:t>
            </a:r>
          </a:p>
          <a:p>
            <a:pPr lvl="2"/>
            <a:r>
              <a:rPr lang="en-IE" sz="2800" dirty="0"/>
              <a:t>To add a new element, we store a “pointer” to it in the (previous) final element in the list</a:t>
            </a:r>
          </a:p>
          <a:p>
            <a:pPr lvl="1"/>
            <a:r>
              <a:rPr lang="en-IE" sz="3200" dirty="0">
                <a:solidFill>
                  <a:srgbClr val="FF0000"/>
                </a:solidFill>
              </a:rPr>
              <a:t>No limit </a:t>
            </a:r>
            <a:r>
              <a:rPr lang="en-IE" sz="3200" dirty="0"/>
              <a:t>to the number of elements that can be added!</a:t>
            </a:r>
          </a:p>
          <a:p>
            <a:pPr lvl="2"/>
            <a:r>
              <a:rPr lang="en-IE" sz="2800" dirty="0"/>
              <a:t>Every time we add a new one, we update the old final element to point to it</a:t>
            </a:r>
          </a:p>
          <a:p>
            <a:pPr lvl="1"/>
            <a:endParaRPr lang="en-IE" sz="3200" dirty="0"/>
          </a:p>
          <a:p>
            <a:pPr lvl="1"/>
            <a:r>
              <a:rPr lang="en-IE" sz="3200" dirty="0"/>
              <a:t>To access data, we can </a:t>
            </a:r>
            <a:r>
              <a:rPr lang="en-IE" sz="3200" dirty="0">
                <a:solidFill>
                  <a:srgbClr val="FF0000"/>
                </a:solidFill>
              </a:rPr>
              <a:t>follow the trail </a:t>
            </a:r>
            <a:r>
              <a:rPr lang="en-IE" sz="3200" dirty="0"/>
              <a:t>of pointers/links through the list of elements</a:t>
            </a:r>
          </a:p>
        </p:txBody>
      </p:sp>
    </p:spTree>
    <p:extLst>
      <p:ext uri="{BB962C8B-B14F-4D97-AF65-F5344CB8AC3E}">
        <p14:creationId xmlns:p14="http://schemas.microsoft.com/office/powerpoint/2010/main" val="1112918675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Theme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efault Theme" id="{060A139A-D62C-4E51-99D9-5BBA43872587}" vid="{4CEDBC7D-39AC-4B45-A5EA-87DB4DFF3D4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9182</TotalTime>
  <Words>675</Words>
  <Application>Microsoft Office PowerPoint</Application>
  <PresentationFormat>Widescreen</PresentationFormat>
  <Paragraphs>91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Calibri</vt:lpstr>
      <vt:lpstr>Calibri Light</vt:lpstr>
      <vt:lpstr>Default Theme</vt:lpstr>
      <vt:lpstr>Lists</vt:lpstr>
      <vt:lpstr>What makes a List?</vt:lpstr>
      <vt:lpstr>Fundamental Operations for a List</vt:lpstr>
      <vt:lpstr>Where to Use a List</vt:lpstr>
      <vt:lpstr>Implementing the  List ADT</vt:lpstr>
      <vt:lpstr>Approaches to List Implementation</vt:lpstr>
      <vt:lpstr>Array-Based Implementation</vt:lpstr>
      <vt:lpstr>Dynamic Arrays</vt:lpstr>
      <vt:lpstr>The Down Side of Dynamic Arrays</vt:lpstr>
      <vt:lpstr>Link-based Lists (AKA Linked Lists)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Data Structures</dc:title>
  <dc:creator>michelle</dc:creator>
  <cp:lastModifiedBy>Michelle Graham</cp:lastModifiedBy>
  <cp:revision>77</cp:revision>
  <dcterms:created xsi:type="dcterms:W3CDTF">2018-02-26T19:17:33Z</dcterms:created>
  <dcterms:modified xsi:type="dcterms:W3CDTF">2025-09-14T16:51:44Z</dcterms:modified>
</cp:coreProperties>
</file>